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Afacad Flux"/>
      <p:regular r:id="rId15"/>
      <p:bold r:id="rId16"/>
    </p:embeddedFont>
    <p:embeddedFont>
      <p:font typeface="Heebo"/>
      <p:regular r:id="rId17"/>
      <p:bold r:id="rId18"/>
    </p:embeddedFont>
    <p:embeddedFont>
      <p:font typeface="Barlow Medium"/>
      <p:regular r:id="rId19"/>
      <p:bold r:id="rId20"/>
      <p:italic r:id="rId21"/>
      <p:boldItalic r:id="rId22"/>
    </p:embeddedFont>
    <p:embeddedFont>
      <p:font typeface="Bricolage Grotesque"/>
      <p:regular r:id="rId23"/>
      <p:bold r:id="rId24"/>
    </p:embeddedFont>
    <p:embeddedFont>
      <p:font typeface="Bricolage Grotesque Medium"/>
      <p:regular r:id="rId25"/>
      <p:bold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Medium-bold.fntdata"/><Relationship Id="rId22" Type="http://schemas.openxmlformats.org/officeDocument/2006/relationships/font" Target="fonts/BarlowMedium-boldItalic.fntdata"/><Relationship Id="rId21" Type="http://schemas.openxmlformats.org/officeDocument/2006/relationships/font" Target="fonts/BarlowMedium-italic.fntdata"/><Relationship Id="rId24" Type="http://schemas.openxmlformats.org/officeDocument/2006/relationships/font" Target="fonts/BricolageGrotesque-bold.fntdata"/><Relationship Id="rId23" Type="http://schemas.openxmlformats.org/officeDocument/2006/relationships/font" Target="fonts/BricolageGrotesqu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BricolageGrotesqueMedium-bold.fntdata"/><Relationship Id="rId25" Type="http://schemas.openxmlformats.org/officeDocument/2006/relationships/font" Target="fonts/BricolageGrotesqueMedium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OpenSans-boldItalic.fntdata"/><Relationship Id="rId11" Type="http://schemas.openxmlformats.org/officeDocument/2006/relationships/font" Target="fonts/Raleway-regular.fntdata"/><Relationship Id="rId10" Type="http://schemas.openxmlformats.org/officeDocument/2006/relationships/slide" Target="slides/slide6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5" Type="http://schemas.openxmlformats.org/officeDocument/2006/relationships/font" Target="fonts/AfacadFlux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Heebo-regular.fntdata"/><Relationship Id="rId16" Type="http://schemas.openxmlformats.org/officeDocument/2006/relationships/font" Target="fonts/AfacadFlux-bold.fntdata"/><Relationship Id="rId19" Type="http://schemas.openxmlformats.org/officeDocument/2006/relationships/font" Target="fonts/BarlowMedium-regular.fntdata"/><Relationship Id="rId18" Type="http://schemas.openxmlformats.org/officeDocument/2006/relationships/font" Target="fonts/Heeb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97af2fcc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97af2fcc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1c96e060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1c96e060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54dda1946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54dda1946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1c96e060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1c96e060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1c96e0603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91c96e060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28600" y="2854200"/>
            <a:ext cx="7286400" cy="20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572000" y="1143439"/>
            <a:ext cx="1323600" cy="11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eebo"/>
              <a:buNone/>
              <a:defRPr sz="1600">
                <a:latin typeface="Heebo"/>
                <a:ea typeface="Heebo"/>
                <a:cs typeface="Heebo"/>
                <a:sym typeface="Heeb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228600" y="3336550"/>
            <a:ext cx="6522900" cy="15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6751500" y="827594"/>
            <a:ext cx="1652100" cy="1211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228600" y="2286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228600" y="999327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228750" y="228600"/>
            <a:ext cx="2591700" cy="23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3768000" y="1795575"/>
            <a:ext cx="5147400" cy="12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3767953" y="1242975"/>
            <a:ext cx="5147400" cy="6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3767925" y="3669600"/>
            <a:ext cx="5147400" cy="12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3767855" y="3117000"/>
            <a:ext cx="5147400" cy="6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228600" y="4148475"/>
            <a:ext cx="4835100" cy="7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720000" y="445019"/>
            <a:ext cx="476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subTitle"/>
          </p:nvPr>
        </p:nvSpPr>
        <p:spPr>
          <a:xfrm>
            <a:off x="713225" y="1790975"/>
            <a:ext cx="4294800" cy="19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228600" y="228600"/>
            <a:ext cx="3594000" cy="9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hasCustomPrompt="1" idx="2" type="title"/>
          </p:nvPr>
        </p:nvSpPr>
        <p:spPr>
          <a:xfrm>
            <a:off x="228719" y="2952800"/>
            <a:ext cx="2400600" cy="13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b="0" sz="950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subTitle"/>
          </p:nvPr>
        </p:nvSpPr>
        <p:spPr>
          <a:xfrm>
            <a:off x="228600" y="1157700"/>
            <a:ext cx="3594000" cy="80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hasCustomPrompt="1" idx="3" type="title"/>
          </p:nvPr>
        </p:nvSpPr>
        <p:spPr>
          <a:xfrm>
            <a:off x="6515091" y="2952800"/>
            <a:ext cx="2400600" cy="13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b="0" sz="950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41" name="Google Shape;41;p11"/>
          <p:cNvSpPr txBox="1"/>
          <p:nvPr>
            <p:ph hasCustomPrompt="1" idx="4" type="title"/>
          </p:nvPr>
        </p:nvSpPr>
        <p:spPr>
          <a:xfrm>
            <a:off x="3371760" y="2952800"/>
            <a:ext cx="2400600" cy="13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b="0" sz="950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/>
          <p:nvPr>
            <p:ph idx="5" type="subTitle"/>
          </p:nvPr>
        </p:nvSpPr>
        <p:spPr>
          <a:xfrm>
            <a:off x="228600" y="4155300"/>
            <a:ext cx="2400600" cy="75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6" type="subTitle"/>
          </p:nvPr>
        </p:nvSpPr>
        <p:spPr>
          <a:xfrm>
            <a:off x="6514972" y="4155300"/>
            <a:ext cx="2400600" cy="75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7" type="subTitle"/>
          </p:nvPr>
        </p:nvSpPr>
        <p:spPr>
          <a:xfrm>
            <a:off x="3371640" y="4155300"/>
            <a:ext cx="2400600" cy="75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hasCustomPrompt="1" idx="8" type="title"/>
          </p:nvPr>
        </p:nvSpPr>
        <p:spPr>
          <a:xfrm>
            <a:off x="6515091" y="228600"/>
            <a:ext cx="2400600" cy="13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b="0" sz="950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9" type="subTitle"/>
          </p:nvPr>
        </p:nvSpPr>
        <p:spPr>
          <a:xfrm>
            <a:off x="6514972" y="1431100"/>
            <a:ext cx="2400600" cy="75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228600" y="3322775"/>
            <a:ext cx="3429000" cy="15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hasCustomPrompt="1" idx="2" type="title"/>
          </p:nvPr>
        </p:nvSpPr>
        <p:spPr>
          <a:xfrm>
            <a:off x="1588833" y="228602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1562777" y="47307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hasCustomPrompt="1" idx="3" type="title"/>
          </p:nvPr>
        </p:nvSpPr>
        <p:spPr>
          <a:xfrm>
            <a:off x="228592" y="1493565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/>
          <p:nvPr>
            <p:ph idx="4" type="subTitle"/>
          </p:nvPr>
        </p:nvSpPr>
        <p:spPr>
          <a:xfrm>
            <a:off x="228598" y="173802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hasCustomPrompt="1" idx="5" type="title"/>
          </p:nvPr>
        </p:nvSpPr>
        <p:spPr>
          <a:xfrm>
            <a:off x="3898029" y="228602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idx="6" type="subTitle"/>
          </p:nvPr>
        </p:nvSpPr>
        <p:spPr>
          <a:xfrm>
            <a:off x="3898025" y="47307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hasCustomPrompt="1" idx="7" type="title"/>
          </p:nvPr>
        </p:nvSpPr>
        <p:spPr>
          <a:xfrm>
            <a:off x="6207225" y="228602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idx="8" type="subTitle"/>
          </p:nvPr>
        </p:nvSpPr>
        <p:spPr>
          <a:xfrm>
            <a:off x="6207225" y="47307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hasCustomPrompt="1" idx="9" type="title"/>
          </p:nvPr>
        </p:nvSpPr>
        <p:spPr>
          <a:xfrm>
            <a:off x="2537808" y="1493565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idx="13" type="subTitle"/>
          </p:nvPr>
        </p:nvSpPr>
        <p:spPr>
          <a:xfrm>
            <a:off x="2537802" y="173802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hasCustomPrompt="1" idx="14" type="title"/>
          </p:nvPr>
        </p:nvSpPr>
        <p:spPr>
          <a:xfrm>
            <a:off x="4847000" y="1493565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15" type="subTitle"/>
          </p:nvPr>
        </p:nvSpPr>
        <p:spPr>
          <a:xfrm>
            <a:off x="4847000" y="173802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hasCustomPrompt="1" idx="16" type="title"/>
          </p:nvPr>
        </p:nvSpPr>
        <p:spPr>
          <a:xfrm>
            <a:off x="3898017" y="2758524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idx="17" type="subTitle"/>
          </p:nvPr>
        </p:nvSpPr>
        <p:spPr>
          <a:xfrm>
            <a:off x="3898023" y="3003000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hasCustomPrompt="1" idx="18" type="title"/>
          </p:nvPr>
        </p:nvSpPr>
        <p:spPr>
          <a:xfrm>
            <a:off x="6671900" y="2758524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idx="19" type="subTitle"/>
          </p:nvPr>
        </p:nvSpPr>
        <p:spPr>
          <a:xfrm>
            <a:off x="6671900" y="3003000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28600" y="3269200"/>
            <a:ext cx="3155400" cy="16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4517000" y="228600"/>
            <a:ext cx="3078300" cy="32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554398"/>
            <a:ext cx="3201600" cy="19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71" name="Google Shape;71;p15"/>
          <p:cNvSpPr/>
          <p:nvPr>
            <p:ph idx="2" type="pic"/>
          </p:nvPr>
        </p:nvSpPr>
        <p:spPr>
          <a:xfrm>
            <a:off x="228600" y="2871425"/>
            <a:ext cx="8687100" cy="20439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995400" y="228600"/>
            <a:ext cx="4920300" cy="22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1887000" y="3909000"/>
            <a:ext cx="70284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3309609" y="1591350"/>
            <a:ext cx="2525400" cy="14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2" type="subTitle"/>
          </p:nvPr>
        </p:nvSpPr>
        <p:spPr>
          <a:xfrm>
            <a:off x="228450" y="1591350"/>
            <a:ext cx="2525400" cy="14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6390000" y="1591350"/>
            <a:ext cx="2525400" cy="14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hasCustomPrompt="1" idx="4" type="title"/>
          </p:nvPr>
        </p:nvSpPr>
        <p:spPr>
          <a:xfrm>
            <a:off x="3308991" y="228600"/>
            <a:ext cx="1640100" cy="76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6"/>
          <p:cNvSpPr txBox="1"/>
          <p:nvPr>
            <p:ph hasCustomPrompt="1" idx="5" type="title"/>
          </p:nvPr>
        </p:nvSpPr>
        <p:spPr>
          <a:xfrm>
            <a:off x="228475" y="228968"/>
            <a:ext cx="1706100" cy="7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6"/>
          <p:cNvSpPr txBox="1"/>
          <p:nvPr>
            <p:ph hasCustomPrompt="1" idx="6" type="title"/>
          </p:nvPr>
        </p:nvSpPr>
        <p:spPr>
          <a:xfrm>
            <a:off x="6390000" y="228600"/>
            <a:ext cx="1479300" cy="7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6"/>
          <p:cNvSpPr txBox="1"/>
          <p:nvPr>
            <p:ph idx="7" type="subTitle"/>
          </p:nvPr>
        </p:nvSpPr>
        <p:spPr>
          <a:xfrm>
            <a:off x="3309609" y="1103850"/>
            <a:ext cx="25254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8" type="subTitle"/>
          </p:nvPr>
        </p:nvSpPr>
        <p:spPr>
          <a:xfrm>
            <a:off x="228450" y="1103850"/>
            <a:ext cx="25254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9" type="subTitle"/>
          </p:nvPr>
        </p:nvSpPr>
        <p:spPr>
          <a:xfrm>
            <a:off x="6390000" y="1103850"/>
            <a:ext cx="25254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228600" y="1159200"/>
            <a:ext cx="3248700" cy="28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5061325" y="647121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2" type="subTitle"/>
          </p:nvPr>
        </p:nvSpPr>
        <p:spPr>
          <a:xfrm>
            <a:off x="5061325" y="228675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hasCustomPrompt="1" idx="3" type="title"/>
          </p:nvPr>
        </p:nvSpPr>
        <p:spPr>
          <a:xfrm>
            <a:off x="4500325" y="228595"/>
            <a:ext cx="56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17"/>
          <p:cNvSpPr txBox="1"/>
          <p:nvPr>
            <p:ph idx="4" type="subTitle"/>
          </p:nvPr>
        </p:nvSpPr>
        <p:spPr>
          <a:xfrm>
            <a:off x="5061325" y="1871014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5" type="subTitle"/>
          </p:nvPr>
        </p:nvSpPr>
        <p:spPr>
          <a:xfrm>
            <a:off x="5061325" y="1452568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hasCustomPrompt="1" idx="6" type="title"/>
          </p:nvPr>
        </p:nvSpPr>
        <p:spPr>
          <a:xfrm>
            <a:off x="4500325" y="1452487"/>
            <a:ext cx="56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7"/>
          <p:cNvSpPr txBox="1"/>
          <p:nvPr>
            <p:ph idx="7" type="subTitle"/>
          </p:nvPr>
        </p:nvSpPr>
        <p:spPr>
          <a:xfrm>
            <a:off x="5061325" y="3094907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8" type="subTitle"/>
          </p:nvPr>
        </p:nvSpPr>
        <p:spPr>
          <a:xfrm>
            <a:off x="5061325" y="2676461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94" name="Google Shape;94;p17"/>
          <p:cNvSpPr txBox="1"/>
          <p:nvPr>
            <p:ph hasCustomPrompt="1" idx="9" type="title"/>
          </p:nvPr>
        </p:nvSpPr>
        <p:spPr>
          <a:xfrm>
            <a:off x="4500325" y="2676378"/>
            <a:ext cx="56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7"/>
          <p:cNvSpPr txBox="1"/>
          <p:nvPr>
            <p:ph idx="13" type="subTitle"/>
          </p:nvPr>
        </p:nvSpPr>
        <p:spPr>
          <a:xfrm>
            <a:off x="5061325" y="4318799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4" type="subTitle"/>
          </p:nvPr>
        </p:nvSpPr>
        <p:spPr>
          <a:xfrm>
            <a:off x="5061325" y="3900353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hasCustomPrompt="1" idx="15" type="title"/>
          </p:nvPr>
        </p:nvSpPr>
        <p:spPr>
          <a:xfrm>
            <a:off x="4500325" y="3900270"/>
            <a:ext cx="56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054850" y="3056150"/>
            <a:ext cx="5860500" cy="18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" type="subTitle"/>
          </p:nvPr>
        </p:nvSpPr>
        <p:spPr>
          <a:xfrm>
            <a:off x="4425843" y="228611"/>
            <a:ext cx="24909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/>
        </p:nvSpPr>
        <p:spPr>
          <a:xfrm>
            <a:off x="228600" y="2803984"/>
            <a:ext cx="25722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Heebo"/>
                <a:ea typeface="Heebo"/>
                <a:cs typeface="Heebo"/>
                <a:sym typeface="Heebo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, and includes icons, infographics &amp; images by </a:t>
            </a:r>
            <a:r>
              <a:rPr b="1" lang="en" sz="1000" u="sng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endParaRPr b="1" sz="1000" u="sng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Bricolage Grotesque"/>
              <a:buNone/>
              <a:defRPr b="1" sz="4500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936050"/>
            <a:ext cx="8686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●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○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■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●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○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■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●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○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■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gif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ctrTitle"/>
          </p:nvPr>
        </p:nvSpPr>
        <p:spPr>
          <a:xfrm>
            <a:off x="228600" y="2854200"/>
            <a:ext cx="7286400" cy="20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OOP</a:t>
            </a:r>
            <a:r>
              <a:rPr lang="en" sz="3000"/>
              <a:t>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/>
              <a:t>Final</a:t>
            </a:r>
            <a:r>
              <a:rPr lang="en" sz="9100"/>
              <a:t> Project</a:t>
            </a:r>
            <a:endParaRPr sz="9100"/>
          </a:p>
        </p:txBody>
      </p:sp>
      <p:sp>
        <p:nvSpPr>
          <p:cNvPr id="111" name="Google Shape;111;p22"/>
          <p:cNvSpPr txBox="1"/>
          <p:nvPr>
            <p:ph idx="1" type="subTitle"/>
          </p:nvPr>
        </p:nvSpPr>
        <p:spPr>
          <a:xfrm>
            <a:off x="6972900" y="228600"/>
            <a:ext cx="1942500" cy="11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鄭祐丞B123245001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簡才斌B123245003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陳展皝B123245006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 &amp; 2</a:t>
            </a:r>
            <a:endParaRPr/>
          </a:p>
        </p:txBody>
      </p:sp>
      <p:sp>
        <p:nvSpPr>
          <p:cNvPr id="117" name="Google Shape;117;p23"/>
          <p:cNvSpPr txBox="1"/>
          <p:nvPr/>
        </p:nvSpPr>
        <p:spPr>
          <a:xfrm>
            <a:off x="185925" y="1017725"/>
            <a:ext cx="3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Part 1: We successfully installed and ran</a:t>
            </a:r>
            <a:endParaRPr>
              <a:solidFill>
                <a:srgbClr val="000000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pic>
        <p:nvPicPr>
          <p:cNvPr id="118" name="Google Shape;118;p23" title="mountain_ca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925" y="2794175"/>
            <a:ext cx="2743904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3"/>
          <p:cNvSpPr txBox="1"/>
          <p:nvPr/>
        </p:nvSpPr>
        <p:spPr>
          <a:xfrm>
            <a:off x="1002113" y="4606163"/>
            <a:ext cx="1111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Mountain Car</a:t>
            </a:r>
            <a:endParaRPr sz="1000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7318" y="2794441"/>
            <a:ext cx="2450430" cy="182823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3"/>
          <p:cNvSpPr txBox="1"/>
          <p:nvPr/>
        </p:nvSpPr>
        <p:spPr>
          <a:xfrm>
            <a:off x="3656236" y="4615025"/>
            <a:ext cx="21726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82525" lIns="82525" spcFirstLastPara="1" rIns="82525" wrap="square" tIns="825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2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Training Score per episode (pt.1)</a:t>
            </a:r>
            <a:endParaRPr sz="1002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122" name="Google Shape;122;p23"/>
          <p:cNvPicPr preferRelativeResize="0"/>
          <p:nvPr/>
        </p:nvPicPr>
        <p:blipFill rotWithShape="1">
          <a:blip r:embed="rId5">
            <a:alphaModFix/>
          </a:blip>
          <a:srcRect b="3793" l="5619" r="7521" t="8193"/>
          <a:stretch/>
        </p:blipFill>
        <p:spPr>
          <a:xfrm>
            <a:off x="6555251" y="2794446"/>
            <a:ext cx="2402819" cy="182823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6721967" y="4627477"/>
            <a:ext cx="20694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7500" lIns="67500" spcFirstLastPara="1" rIns="67500" wrap="square" tIns="675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2"/>
              <a:buFont typeface="Arial"/>
              <a:buNone/>
            </a:pPr>
            <a:r>
              <a:rPr lang="en" sz="1038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Training Score per episode (pt.2)</a:t>
            </a:r>
            <a:endParaRPr sz="1038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grpSp>
        <p:nvGrpSpPr>
          <p:cNvPr id="124" name="Google Shape;124;p23"/>
          <p:cNvGrpSpPr/>
          <p:nvPr/>
        </p:nvGrpSpPr>
        <p:grpSpPr>
          <a:xfrm>
            <a:off x="5052598" y="1017736"/>
            <a:ext cx="3905474" cy="1776724"/>
            <a:chOff x="4478998" y="1130536"/>
            <a:chExt cx="3905474" cy="1776724"/>
          </a:xfrm>
        </p:grpSpPr>
        <p:pic>
          <p:nvPicPr>
            <p:cNvPr id="125" name="Google Shape;125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479061" y="1500744"/>
              <a:ext cx="3905411" cy="1406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23"/>
            <p:cNvSpPr txBox="1"/>
            <p:nvPr/>
          </p:nvSpPr>
          <p:spPr>
            <a:xfrm>
              <a:off x="4478998" y="1130536"/>
              <a:ext cx="39054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550" lIns="76550" spcFirstLastPara="1" rIns="76550" wrap="square" tIns="765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Heebo"/>
                  <a:ea typeface="Heebo"/>
                  <a:cs typeface="Heebo"/>
                  <a:sym typeface="Heebo"/>
                </a:rPr>
                <a:t>Part 2:We tuned the parameters to:</a:t>
              </a:r>
              <a:endParaRPr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" type="subTitle"/>
          </p:nvPr>
        </p:nvSpPr>
        <p:spPr>
          <a:xfrm>
            <a:off x="228600" y="1157700"/>
            <a:ext cx="3594000" cy="7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Goal: Build an agent that runs 2048 by itself</a:t>
            </a:r>
            <a:endParaRPr sz="1700"/>
          </a:p>
        </p:txBody>
      </p:sp>
      <p:sp>
        <p:nvSpPr>
          <p:cNvPr id="132" name="Google Shape;132;p24"/>
          <p:cNvSpPr txBox="1"/>
          <p:nvPr>
            <p:ph type="title"/>
          </p:nvPr>
        </p:nvSpPr>
        <p:spPr>
          <a:xfrm>
            <a:off x="228600" y="228600"/>
            <a:ext cx="3594000" cy="9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</a:t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8550" y="342525"/>
            <a:ext cx="4149324" cy="445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936" y="1901952"/>
            <a:ext cx="2798063" cy="2935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228600" y="3269200"/>
            <a:ext cx="3155400" cy="16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 3</a:t>
            </a:r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3103726" y="2434125"/>
            <a:ext cx="2224800" cy="310500"/>
          </a:xfrm>
          <a:prstGeom prst="flowChartAlternateProcess">
            <a:avLst/>
          </a:prstGeom>
          <a:solidFill>
            <a:srgbClr val="EA9999"/>
          </a:solidFill>
          <a:ln cap="flat" cmpd="sng" w="85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625" lIns="81625" spcFirstLastPara="1" rIns="81625" wrap="square" tIns="8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Open Sans"/>
                <a:ea typeface="Open Sans"/>
                <a:cs typeface="Open Sans"/>
                <a:sym typeface="Open Sans"/>
              </a:rPr>
              <a:t>Conv2d(64→128)</a:t>
            </a:r>
            <a:endParaRPr sz="125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3103726" y="2936197"/>
            <a:ext cx="2224800" cy="310500"/>
          </a:xfrm>
          <a:prstGeom prst="flowChartAlternateProcess">
            <a:avLst/>
          </a:prstGeom>
          <a:solidFill>
            <a:srgbClr val="B6D7A8"/>
          </a:solidFill>
          <a:ln cap="flat" cmpd="sng" w="85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625" lIns="81625" spcFirstLastPara="1" rIns="81625" wrap="square" tIns="8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Open Sans"/>
                <a:ea typeface="Open Sans"/>
                <a:cs typeface="Open Sans"/>
                <a:sym typeface="Open Sans"/>
              </a:rPr>
              <a:t>ReLU</a:t>
            </a:r>
            <a:endParaRPr sz="125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25"/>
          <p:cNvSpPr/>
          <p:nvPr/>
        </p:nvSpPr>
        <p:spPr>
          <a:xfrm>
            <a:off x="6194676" y="880720"/>
            <a:ext cx="2224800" cy="310500"/>
          </a:xfrm>
          <a:prstGeom prst="flowChartAlternateProcess">
            <a:avLst/>
          </a:prstGeom>
          <a:solidFill>
            <a:srgbClr val="9FC5E8"/>
          </a:solidFill>
          <a:ln cap="flat" cmpd="sng" w="85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625" lIns="81625" spcFirstLastPara="1" rIns="81625" wrap="square" tIns="8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Open Sans"/>
                <a:ea typeface="Open Sans"/>
                <a:cs typeface="Open Sans"/>
                <a:sym typeface="Open Sans"/>
              </a:rPr>
              <a:t>Flatten</a:t>
            </a:r>
            <a:endParaRPr sz="125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3" name="Google Shape;143;p25"/>
          <p:cNvCxnSpPr>
            <a:stCxn id="140" idx="2"/>
            <a:endCxn id="141" idx="0"/>
          </p:cNvCxnSpPr>
          <p:nvPr/>
        </p:nvCxnSpPr>
        <p:spPr>
          <a:xfrm>
            <a:off x="4216126" y="2744625"/>
            <a:ext cx="0" cy="191700"/>
          </a:xfrm>
          <a:prstGeom prst="straightConnector1">
            <a:avLst/>
          </a:prstGeom>
          <a:noFill/>
          <a:ln cap="flat" cmpd="sng" w="8500">
            <a:solidFill>
              <a:srgbClr val="21212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25"/>
          <p:cNvSpPr/>
          <p:nvPr/>
        </p:nvSpPr>
        <p:spPr>
          <a:xfrm>
            <a:off x="3103726" y="1429975"/>
            <a:ext cx="2224800" cy="310500"/>
          </a:xfrm>
          <a:prstGeom prst="flowChartAlternateProcess">
            <a:avLst/>
          </a:prstGeom>
          <a:solidFill>
            <a:srgbClr val="EA9999"/>
          </a:solidFill>
          <a:ln cap="flat" cmpd="sng" w="85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625" lIns="81625" spcFirstLastPara="1" rIns="81625" wrap="square" tIns="8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Open Sans"/>
                <a:ea typeface="Open Sans"/>
                <a:cs typeface="Open Sans"/>
                <a:sym typeface="Open Sans"/>
              </a:rPr>
              <a:t>Conv2d (1→64)</a:t>
            </a:r>
            <a:endParaRPr sz="125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3103726" y="1932047"/>
            <a:ext cx="2224800" cy="310500"/>
          </a:xfrm>
          <a:prstGeom prst="flowChartAlternateProcess">
            <a:avLst/>
          </a:prstGeom>
          <a:solidFill>
            <a:srgbClr val="B6D7A8"/>
          </a:solidFill>
          <a:ln cap="flat" cmpd="sng" w="85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625" lIns="81625" spcFirstLastPara="1" rIns="81625" wrap="square" tIns="8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Open Sans"/>
                <a:ea typeface="Open Sans"/>
                <a:cs typeface="Open Sans"/>
                <a:sym typeface="Open Sans"/>
              </a:rPr>
              <a:t>ReLU</a:t>
            </a:r>
            <a:endParaRPr sz="125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6" name="Google Shape;146;p25"/>
          <p:cNvCxnSpPr>
            <a:stCxn id="144" idx="2"/>
            <a:endCxn id="145" idx="0"/>
          </p:cNvCxnSpPr>
          <p:nvPr/>
        </p:nvCxnSpPr>
        <p:spPr>
          <a:xfrm>
            <a:off x="4216126" y="1740475"/>
            <a:ext cx="0" cy="191700"/>
          </a:xfrm>
          <a:prstGeom prst="straightConnector1">
            <a:avLst/>
          </a:prstGeom>
          <a:noFill/>
          <a:ln cap="flat" cmpd="sng" w="8500">
            <a:solidFill>
              <a:srgbClr val="21212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5"/>
          <p:cNvCxnSpPr>
            <a:stCxn id="145" idx="2"/>
          </p:cNvCxnSpPr>
          <p:nvPr/>
        </p:nvCxnSpPr>
        <p:spPr>
          <a:xfrm>
            <a:off x="4216126" y="2242547"/>
            <a:ext cx="0" cy="191700"/>
          </a:xfrm>
          <a:prstGeom prst="straightConnector1">
            <a:avLst/>
          </a:prstGeom>
          <a:noFill/>
          <a:ln cap="flat" cmpd="sng" w="8500">
            <a:solidFill>
              <a:srgbClr val="21212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48" name="Google Shape;148;p25"/>
          <p:cNvGrpSpPr/>
          <p:nvPr/>
        </p:nvGrpSpPr>
        <p:grpSpPr>
          <a:xfrm>
            <a:off x="6194674" y="1191220"/>
            <a:ext cx="2224802" cy="2055469"/>
            <a:chOff x="4758724" y="1355970"/>
            <a:chExt cx="2224802" cy="2055469"/>
          </a:xfrm>
        </p:grpSpPr>
        <p:sp>
          <p:nvSpPr>
            <p:cNvPr id="149" name="Google Shape;149;p25"/>
            <p:cNvSpPr/>
            <p:nvPr/>
          </p:nvSpPr>
          <p:spPr>
            <a:xfrm>
              <a:off x="4758726" y="1594100"/>
              <a:ext cx="2224800" cy="310500"/>
            </a:xfrm>
            <a:prstGeom prst="flowChartAlternateProcess">
              <a:avLst/>
            </a:prstGeom>
            <a:solidFill>
              <a:srgbClr val="D5A6BD"/>
            </a:solidFill>
            <a:ln cap="flat" cmpd="sng" w="8500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625" lIns="81625" spcFirstLastPara="1" rIns="81625" wrap="square" tIns="81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50">
                  <a:latin typeface="Open Sans"/>
                  <a:ea typeface="Open Sans"/>
                  <a:cs typeface="Open Sans"/>
                  <a:sym typeface="Open Sans"/>
                </a:rPr>
                <a:t>Linear Layer</a:t>
              </a:r>
              <a:endParaRPr sz="125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0" name="Google Shape;150;p25"/>
            <p:cNvSpPr/>
            <p:nvPr/>
          </p:nvSpPr>
          <p:spPr>
            <a:xfrm>
              <a:off x="4758726" y="2096297"/>
              <a:ext cx="2224800" cy="310500"/>
            </a:xfrm>
            <a:prstGeom prst="flowChartAlternateProcess">
              <a:avLst/>
            </a:prstGeom>
            <a:solidFill>
              <a:srgbClr val="B6D7A8"/>
            </a:solidFill>
            <a:ln cap="flat" cmpd="sng" w="8500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625" lIns="81625" spcFirstLastPara="1" rIns="81625" wrap="square" tIns="81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50">
                  <a:latin typeface="Open Sans"/>
                  <a:ea typeface="Open Sans"/>
                  <a:cs typeface="Open Sans"/>
                  <a:sym typeface="Open Sans"/>
                </a:rPr>
                <a:t>ReLU</a:t>
              </a:r>
              <a:endParaRPr sz="125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51" name="Google Shape;151;p25"/>
            <p:cNvCxnSpPr>
              <a:endCxn id="150" idx="0"/>
            </p:cNvCxnSpPr>
            <p:nvPr/>
          </p:nvCxnSpPr>
          <p:spPr>
            <a:xfrm>
              <a:off x="5871126" y="1904597"/>
              <a:ext cx="0" cy="191700"/>
            </a:xfrm>
            <a:prstGeom prst="straightConnector1">
              <a:avLst/>
            </a:prstGeom>
            <a:noFill/>
            <a:ln cap="flat" cmpd="sng" w="8500">
              <a:solidFill>
                <a:srgbClr val="21212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2" name="Google Shape;152;p25"/>
            <p:cNvCxnSpPr/>
            <p:nvPr/>
          </p:nvCxnSpPr>
          <p:spPr>
            <a:xfrm>
              <a:off x="5871126" y="2406672"/>
              <a:ext cx="0" cy="191700"/>
            </a:xfrm>
            <a:prstGeom prst="straightConnector1">
              <a:avLst/>
            </a:prstGeom>
            <a:noFill/>
            <a:ln cap="flat" cmpd="sng" w="8500">
              <a:solidFill>
                <a:srgbClr val="21212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3" name="Google Shape;153;p25"/>
            <p:cNvSpPr/>
            <p:nvPr/>
          </p:nvSpPr>
          <p:spPr>
            <a:xfrm>
              <a:off x="4758726" y="2598500"/>
              <a:ext cx="2224800" cy="310500"/>
            </a:xfrm>
            <a:prstGeom prst="flowChartAlternateProcess">
              <a:avLst/>
            </a:prstGeom>
            <a:solidFill>
              <a:srgbClr val="D5A6BD"/>
            </a:solidFill>
            <a:ln cap="flat" cmpd="sng" w="8500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625" lIns="81625" spcFirstLastPara="1" rIns="81625" wrap="square" tIns="81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50">
                  <a:latin typeface="Open Sans"/>
                  <a:ea typeface="Open Sans"/>
                  <a:cs typeface="Open Sans"/>
                  <a:sym typeface="Open Sans"/>
                </a:rPr>
                <a:t>Linear Layer</a:t>
              </a:r>
              <a:endParaRPr sz="125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4" name="Google Shape;154;p25"/>
            <p:cNvSpPr/>
            <p:nvPr/>
          </p:nvSpPr>
          <p:spPr>
            <a:xfrm>
              <a:off x="4758724" y="3100939"/>
              <a:ext cx="2224800" cy="310500"/>
            </a:xfrm>
            <a:prstGeom prst="flowChartAlternateProcess">
              <a:avLst/>
            </a:prstGeom>
            <a:solidFill>
              <a:srgbClr val="A2C4C9"/>
            </a:solidFill>
            <a:ln cap="flat" cmpd="sng" w="8500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625" lIns="81625" spcFirstLastPara="1" rIns="81625" wrap="square" tIns="81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50">
                  <a:latin typeface="Open Sans"/>
                  <a:ea typeface="Open Sans"/>
                  <a:cs typeface="Open Sans"/>
                  <a:sym typeface="Open Sans"/>
                </a:rPr>
                <a:t>Output Layer</a:t>
              </a:r>
              <a:endParaRPr sz="125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55" name="Google Shape;155;p25"/>
            <p:cNvCxnSpPr/>
            <p:nvPr/>
          </p:nvCxnSpPr>
          <p:spPr>
            <a:xfrm>
              <a:off x="5871126" y="2909135"/>
              <a:ext cx="0" cy="191700"/>
            </a:xfrm>
            <a:prstGeom prst="straightConnector1">
              <a:avLst/>
            </a:prstGeom>
            <a:noFill/>
            <a:ln cap="flat" cmpd="sng" w="8500">
              <a:solidFill>
                <a:srgbClr val="21212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6" name="Google Shape;156;p25"/>
            <p:cNvCxnSpPr>
              <a:stCxn id="142" idx="2"/>
              <a:endCxn id="149" idx="0"/>
            </p:cNvCxnSpPr>
            <p:nvPr/>
          </p:nvCxnSpPr>
          <p:spPr>
            <a:xfrm flipH="1" rot="-5400000">
              <a:off x="5752326" y="1474770"/>
              <a:ext cx="238200" cy="600"/>
            </a:xfrm>
            <a:prstGeom prst="bentConnector3">
              <a:avLst>
                <a:gd fmla="val 49985" name="adj1"/>
              </a:avLst>
            </a:prstGeom>
            <a:noFill/>
            <a:ln cap="flat" cmpd="sng" w="9525">
              <a:solidFill>
                <a:srgbClr val="19191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57" name="Google Shape;157;p25"/>
          <p:cNvSpPr/>
          <p:nvPr/>
        </p:nvSpPr>
        <p:spPr>
          <a:xfrm>
            <a:off x="3103726" y="927900"/>
            <a:ext cx="2224800" cy="310500"/>
          </a:xfrm>
          <a:prstGeom prst="flowChartAlternateProcess">
            <a:avLst/>
          </a:prstGeom>
          <a:solidFill>
            <a:srgbClr val="F9CB9C"/>
          </a:solidFill>
          <a:ln cap="flat" cmpd="sng" w="85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625" lIns="81625" spcFirstLastPara="1" rIns="81625" wrap="square" tIns="8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Open Sans"/>
                <a:ea typeface="Open Sans"/>
                <a:cs typeface="Open Sans"/>
                <a:sym typeface="Open Sans"/>
              </a:rPr>
              <a:t>Input Layer</a:t>
            </a:r>
            <a:endParaRPr sz="125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8" name="Google Shape;158;p25"/>
          <p:cNvCxnSpPr>
            <a:stCxn id="157" idx="2"/>
          </p:cNvCxnSpPr>
          <p:nvPr/>
        </p:nvCxnSpPr>
        <p:spPr>
          <a:xfrm>
            <a:off x="4216126" y="1238400"/>
            <a:ext cx="0" cy="191700"/>
          </a:xfrm>
          <a:prstGeom prst="straightConnector1">
            <a:avLst/>
          </a:prstGeom>
          <a:noFill/>
          <a:ln cap="flat" cmpd="sng" w="8500">
            <a:solidFill>
              <a:srgbClr val="21212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5"/>
          <p:cNvCxnSpPr>
            <a:stCxn id="141" idx="2"/>
            <a:endCxn id="142" idx="0"/>
          </p:cNvCxnSpPr>
          <p:nvPr/>
        </p:nvCxnSpPr>
        <p:spPr>
          <a:xfrm rot="-5400000">
            <a:off x="4578526" y="518197"/>
            <a:ext cx="2366100" cy="3090900"/>
          </a:xfrm>
          <a:prstGeom prst="bentConnector5">
            <a:avLst>
              <a:gd fmla="val -10064" name="adj1"/>
              <a:gd fmla="val 50001" name="adj2"/>
              <a:gd fmla="val 110059" name="adj3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25"/>
          <p:cNvSpPr txBox="1"/>
          <p:nvPr/>
        </p:nvSpPr>
        <p:spPr>
          <a:xfrm>
            <a:off x="3949575" y="4064150"/>
            <a:ext cx="362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Heebo"/>
                <a:ea typeface="Heebo"/>
                <a:cs typeface="Heebo"/>
                <a:sym typeface="Heebo"/>
              </a:rPr>
              <a:t>Implementation: Deep Q-Network</a:t>
            </a:r>
            <a:endParaRPr sz="1500"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1731797" y="1621725"/>
            <a:ext cx="957900" cy="1314600"/>
          </a:xfrm>
          <a:prstGeom prst="flowChartAlternateProcess">
            <a:avLst/>
          </a:prstGeom>
          <a:solidFill>
            <a:srgbClr val="F9CB9C"/>
          </a:solidFill>
          <a:ln cap="flat" cmpd="sng" w="85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625" lIns="81625" spcFirstLastPara="1" rIns="81625" wrap="square" tIns="8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Open Sans"/>
                <a:ea typeface="Open Sans"/>
                <a:cs typeface="Open Sans"/>
                <a:sym typeface="Open Sans"/>
              </a:rPr>
              <a:t>Target Network</a:t>
            </a:r>
            <a:endParaRPr sz="125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25"/>
          <p:cNvSpPr/>
          <p:nvPr/>
        </p:nvSpPr>
        <p:spPr>
          <a:xfrm>
            <a:off x="359875" y="1621725"/>
            <a:ext cx="957900" cy="1314600"/>
          </a:xfrm>
          <a:prstGeom prst="flowChartAlternateProcess">
            <a:avLst/>
          </a:prstGeom>
          <a:solidFill>
            <a:srgbClr val="EA9999"/>
          </a:solidFill>
          <a:ln cap="flat" cmpd="sng" w="85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625" lIns="81625" spcFirstLastPara="1" rIns="81625" wrap="square" tIns="8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Open Sans"/>
                <a:ea typeface="Open Sans"/>
                <a:cs typeface="Open Sans"/>
                <a:sym typeface="Open Sans"/>
              </a:rPr>
              <a:t>Q Network</a:t>
            </a:r>
            <a:endParaRPr sz="125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3" name="Google Shape;163;p25"/>
          <p:cNvCxnSpPr>
            <a:stCxn id="162" idx="0"/>
            <a:endCxn id="161" idx="0"/>
          </p:cNvCxnSpPr>
          <p:nvPr/>
        </p:nvCxnSpPr>
        <p:spPr>
          <a:xfrm flipH="1" rot="-5400000">
            <a:off x="1524475" y="936075"/>
            <a:ext cx="600" cy="13719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" name="Google Shape;164;p25"/>
          <p:cNvCxnSpPr>
            <a:stCxn id="162" idx="2"/>
            <a:endCxn id="161" idx="2"/>
          </p:cNvCxnSpPr>
          <p:nvPr/>
        </p:nvCxnSpPr>
        <p:spPr>
          <a:xfrm flipH="1" rot="-5400000">
            <a:off x="1524475" y="2250675"/>
            <a:ext cx="600" cy="13719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5" name="Google Shape;165;p25"/>
          <p:cNvSpPr txBox="1"/>
          <p:nvPr/>
        </p:nvSpPr>
        <p:spPr>
          <a:xfrm>
            <a:off x="955675" y="829500"/>
            <a:ext cx="113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Periodically Copy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955675" y="3174450"/>
            <a:ext cx="113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Calculate Loss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228600" y="3269200"/>
            <a:ext cx="3155400" cy="16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 3</a:t>
            </a:r>
            <a:endParaRPr/>
          </a:p>
        </p:txBody>
      </p:sp>
      <p:pic>
        <p:nvPicPr>
          <p:cNvPr id="172" name="Google Shape;172;p26"/>
          <p:cNvPicPr preferRelativeResize="0"/>
          <p:nvPr/>
        </p:nvPicPr>
        <p:blipFill rotWithShape="1">
          <a:blip r:embed="rId3">
            <a:alphaModFix/>
          </a:blip>
          <a:srcRect b="0" l="3719" r="7501" t="4516"/>
          <a:stretch/>
        </p:blipFill>
        <p:spPr>
          <a:xfrm>
            <a:off x="3096125" y="1023875"/>
            <a:ext cx="5756650" cy="30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225" y="1888625"/>
            <a:ext cx="2632199" cy="13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4038" y="803283"/>
            <a:ext cx="4955924" cy="350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roadmaps by Slidesgo">
  <a:themeElements>
    <a:clrScheme name="Simple Light">
      <a:dk1>
        <a:srgbClr val="161616"/>
      </a:dk1>
      <a:lt1>
        <a:srgbClr val="F0F0F0"/>
      </a:lt1>
      <a:dk2>
        <a:srgbClr val="161616"/>
      </a:dk2>
      <a:lt2>
        <a:srgbClr val="C2C2C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6161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