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5143500" cx="9144000"/>
  <p:notesSz cx="6858000" cy="9144000"/>
  <p:embeddedFontLst>
    <p:embeddedFont>
      <p:font typeface="Raleway"/>
      <p:regular r:id="rId11"/>
      <p:bold r:id="rId12"/>
      <p:italic r:id="rId13"/>
      <p:boldItalic r:id="rId14"/>
    </p:embeddedFont>
    <p:embeddedFont>
      <p:font typeface="Afacad Flux"/>
      <p:regular r:id="rId15"/>
      <p:bold r:id="rId16"/>
    </p:embeddedFont>
    <p:embeddedFont>
      <p:font typeface="Heebo"/>
      <p:regular r:id="rId17"/>
      <p:bold r:id="rId18"/>
    </p:embeddedFont>
    <p:embeddedFont>
      <p:font typeface="Barlow Medium"/>
      <p:regular r:id="rId19"/>
      <p:bold r:id="rId20"/>
      <p:italic r:id="rId21"/>
      <p:boldItalic r:id="rId22"/>
    </p:embeddedFont>
    <p:embeddedFont>
      <p:font typeface="Bricolage Grotesque"/>
      <p:regular r:id="rId23"/>
      <p:bold r:id="rId24"/>
    </p:embeddedFont>
    <p:embeddedFont>
      <p:font typeface="Bricolage Grotesque Medium"/>
      <p:regular r:id="rId25"/>
      <p:bold r:id="rId26"/>
    </p:embeddedFont>
    <p:embeddedFont>
      <p:font typeface="Open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BarlowMedium-bold.fntdata"/><Relationship Id="rId22" Type="http://schemas.openxmlformats.org/officeDocument/2006/relationships/font" Target="fonts/BarlowMedium-boldItalic.fntdata"/><Relationship Id="rId21" Type="http://schemas.openxmlformats.org/officeDocument/2006/relationships/font" Target="fonts/BarlowMedium-italic.fntdata"/><Relationship Id="rId24" Type="http://schemas.openxmlformats.org/officeDocument/2006/relationships/font" Target="fonts/BricolageGrotesque-bold.fntdata"/><Relationship Id="rId23" Type="http://schemas.openxmlformats.org/officeDocument/2006/relationships/font" Target="fonts/BricolageGrotesque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BricolageGrotesqueMedium-bold.fntdata"/><Relationship Id="rId25" Type="http://schemas.openxmlformats.org/officeDocument/2006/relationships/font" Target="fonts/BricolageGrotesqueMedium-regular.fntdata"/><Relationship Id="rId28" Type="http://schemas.openxmlformats.org/officeDocument/2006/relationships/font" Target="fonts/OpenSans-bold.fntdata"/><Relationship Id="rId27" Type="http://schemas.openxmlformats.org/officeDocument/2006/relationships/font" Target="fonts/OpenSans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OpenSans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schemas.openxmlformats.org/officeDocument/2006/relationships/font" Target="fonts/OpenSans-boldItalic.fntdata"/><Relationship Id="rId11" Type="http://schemas.openxmlformats.org/officeDocument/2006/relationships/font" Target="fonts/Raleway-regular.fntdata"/><Relationship Id="rId10" Type="http://schemas.openxmlformats.org/officeDocument/2006/relationships/slide" Target="slides/slide6.xml"/><Relationship Id="rId13" Type="http://schemas.openxmlformats.org/officeDocument/2006/relationships/font" Target="fonts/Raleway-italic.fntdata"/><Relationship Id="rId12" Type="http://schemas.openxmlformats.org/officeDocument/2006/relationships/font" Target="fonts/Raleway-bold.fntdata"/><Relationship Id="rId15" Type="http://schemas.openxmlformats.org/officeDocument/2006/relationships/font" Target="fonts/AfacadFlux-regular.fntdata"/><Relationship Id="rId14" Type="http://schemas.openxmlformats.org/officeDocument/2006/relationships/font" Target="fonts/Raleway-boldItalic.fntdata"/><Relationship Id="rId17" Type="http://schemas.openxmlformats.org/officeDocument/2006/relationships/font" Target="fonts/Heebo-regular.fntdata"/><Relationship Id="rId16" Type="http://schemas.openxmlformats.org/officeDocument/2006/relationships/font" Target="fonts/AfacadFlux-bold.fntdata"/><Relationship Id="rId19" Type="http://schemas.openxmlformats.org/officeDocument/2006/relationships/font" Target="fonts/BarlowMedium-regular.fntdata"/><Relationship Id="rId18" Type="http://schemas.openxmlformats.org/officeDocument/2006/relationships/font" Target="fonts/Heeb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97af2fcc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97af2fcc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91c96e0603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91c96e0603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54dda1946d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54dda1946d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1c96e0603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1c96e0603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1c96e0603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1c96e0603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2854200"/>
            <a:ext cx="72864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4572000" y="1143439"/>
            <a:ext cx="1323600" cy="11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Heebo"/>
              <a:buNone/>
              <a:defRPr sz="1600">
                <a:latin typeface="Heebo"/>
                <a:ea typeface="Heebo"/>
                <a:cs typeface="Heebo"/>
                <a:sym typeface="Heeb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3336550"/>
            <a:ext cx="65229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6751500" y="827594"/>
            <a:ext cx="1652100" cy="1211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sz="8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228600" y="999327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228750" y="228600"/>
            <a:ext cx="2591700" cy="23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228600" y="4148475"/>
            <a:ext cx="4835100" cy="7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type="title"/>
          </p:nvPr>
        </p:nvSpPr>
        <p:spPr>
          <a:xfrm>
            <a:off x="228600" y="228600"/>
            <a:ext cx="3594000" cy="9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hasCustomPrompt="1" idx="2" type="title"/>
          </p:nvPr>
        </p:nvSpPr>
        <p:spPr>
          <a:xfrm>
            <a:off x="228719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subTitle"/>
          </p:nvPr>
        </p:nvSpPr>
        <p:spPr>
          <a:xfrm>
            <a:off x="228600" y="1157700"/>
            <a:ext cx="3594000" cy="80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hasCustomPrompt="1" idx="3" type="title"/>
          </p:nvPr>
        </p:nvSpPr>
        <p:spPr>
          <a:xfrm>
            <a:off x="6515091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1" name="Google Shape;41;p11"/>
          <p:cNvSpPr txBox="1"/>
          <p:nvPr>
            <p:ph hasCustomPrompt="1" idx="4" type="title"/>
          </p:nvPr>
        </p:nvSpPr>
        <p:spPr>
          <a:xfrm>
            <a:off x="3371760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/>
          <p:nvPr>
            <p:ph idx="5" type="subTitle"/>
          </p:nvPr>
        </p:nvSpPr>
        <p:spPr>
          <a:xfrm>
            <a:off x="22860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6" type="subTitle"/>
          </p:nvPr>
        </p:nvSpPr>
        <p:spPr>
          <a:xfrm>
            <a:off x="6514972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7" type="subTitle"/>
          </p:nvPr>
        </p:nvSpPr>
        <p:spPr>
          <a:xfrm>
            <a:off x="337164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hasCustomPrompt="1" idx="8" type="title"/>
          </p:nvPr>
        </p:nvSpPr>
        <p:spPr>
          <a:xfrm>
            <a:off x="6515091" y="2286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9" type="subTitle"/>
          </p:nvPr>
        </p:nvSpPr>
        <p:spPr>
          <a:xfrm>
            <a:off x="6514972" y="14311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hasCustomPrompt="1"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" name="Google Shape;51;p1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hasCustomPrompt="1" idx="3" type="title"/>
          </p:nvPr>
        </p:nvSpPr>
        <p:spPr>
          <a:xfrm>
            <a:off x="228592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3" name="Google Shape;53;p13"/>
          <p:cNvSpPr txBox="1"/>
          <p:nvPr>
            <p:ph idx="4" type="subTitle"/>
          </p:nvPr>
        </p:nvSpPr>
        <p:spPr>
          <a:xfrm>
            <a:off x="228598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hasCustomPrompt="1"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hasCustomPrompt="1"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hasCustomPrompt="1"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/>
          <p:nvPr>
            <p:ph idx="13" type="subTitle"/>
          </p:nvPr>
        </p:nvSpPr>
        <p:spPr>
          <a:xfrm>
            <a:off x="2537802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hasCustomPrompt="1" idx="14" type="title"/>
          </p:nvPr>
        </p:nvSpPr>
        <p:spPr>
          <a:xfrm>
            <a:off x="4847000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/>
          <p:nvPr>
            <p:ph idx="15" type="subTitle"/>
          </p:nvPr>
        </p:nvSpPr>
        <p:spPr>
          <a:xfrm>
            <a:off x="4847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hasCustomPrompt="1" idx="16" type="title"/>
          </p:nvPr>
        </p:nvSpPr>
        <p:spPr>
          <a:xfrm>
            <a:off x="3898017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/>
          <p:nvPr>
            <p:ph idx="17" type="subTitle"/>
          </p:nvPr>
        </p:nvSpPr>
        <p:spPr>
          <a:xfrm>
            <a:off x="3898023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hasCustomPrompt="1" idx="18" type="title"/>
          </p:nvPr>
        </p:nvSpPr>
        <p:spPr>
          <a:xfrm>
            <a:off x="6671900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/>
          <p:nvPr>
            <p:ph idx="19" type="subTitle"/>
          </p:nvPr>
        </p:nvSpPr>
        <p:spPr>
          <a:xfrm>
            <a:off x="6671900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68" name="Google Shape;68;p14"/>
          <p:cNvSpPr txBox="1"/>
          <p:nvPr>
            <p:ph idx="1" type="subTitle"/>
          </p:nvPr>
        </p:nvSpPr>
        <p:spPr>
          <a:xfrm>
            <a:off x="4517000" y="228600"/>
            <a:ext cx="3078300" cy="32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1" name="Google Shape;71;p15"/>
          <p:cNvSpPr/>
          <p:nvPr>
            <p:ph idx="2" type="pic"/>
          </p:nvPr>
        </p:nvSpPr>
        <p:spPr>
          <a:xfrm>
            <a:off x="228600" y="2871425"/>
            <a:ext cx="8687100" cy="20439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5"/>
          <p:cNvSpPr txBox="1"/>
          <p:nvPr>
            <p:ph idx="1" type="subTitle"/>
          </p:nvPr>
        </p:nvSpPr>
        <p:spPr>
          <a:xfrm>
            <a:off x="3995400" y="228600"/>
            <a:ext cx="4920300" cy="220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hasCustomPrompt="1"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79" name="Google Shape;79;p16"/>
          <p:cNvSpPr txBox="1"/>
          <p:nvPr>
            <p:ph hasCustomPrompt="1"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6"/>
          <p:cNvSpPr txBox="1"/>
          <p:nvPr>
            <p:ph hasCustomPrompt="1"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6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3" name="Google Shape;83;p16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228600" y="1159200"/>
            <a:ext cx="32487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86" name="Google Shape;86;p17"/>
          <p:cNvSpPr txBox="1"/>
          <p:nvPr>
            <p:ph idx="1" type="subTitle"/>
          </p:nvPr>
        </p:nvSpPr>
        <p:spPr>
          <a:xfrm>
            <a:off x="5061325" y="647121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2" type="subTitle"/>
          </p:nvPr>
        </p:nvSpPr>
        <p:spPr>
          <a:xfrm>
            <a:off x="5061325" y="228675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hasCustomPrompt="1" idx="3" type="title"/>
          </p:nvPr>
        </p:nvSpPr>
        <p:spPr>
          <a:xfrm>
            <a:off x="4500325" y="228595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7"/>
          <p:cNvSpPr txBox="1"/>
          <p:nvPr>
            <p:ph idx="4" type="subTitle"/>
          </p:nvPr>
        </p:nvSpPr>
        <p:spPr>
          <a:xfrm>
            <a:off x="5061325" y="1871014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5" type="subTitle"/>
          </p:nvPr>
        </p:nvSpPr>
        <p:spPr>
          <a:xfrm>
            <a:off x="5061325" y="1452568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hasCustomPrompt="1" idx="6" type="title"/>
          </p:nvPr>
        </p:nvSpPr>
        <p:spPr>
          <a:xfrm>
            <a:off x="4500325" y="1452487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7"/>
          <p:cNvSpPr txBox="1"/>
          <p:nvPr>
            <p:ph idx="7" type="subTitle"/>
          </p:nvPr>
        </p:nvSpPr>
        <p:spPr>
          <a:xfrm>
            <a:off x="5061325" y="309490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8" type="subTitle"/>
          </p:nvPr>
        </p:nvSpPr>
        <p:spPr>
          <a:xfrm>
            <a:off x="5061325" y="2676461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4" name="Google Shape;94;p17"/>
          <p:cNvSpPr txBox="1"/>
          <p:nvPr>
            <p:ph hasCustomPrompt="1" idx="9" type="title"/>
          </p:nvPr>
        </p:nvSpPr>
        <p:spPr>
          <a:xfrm>
            <a:off x="4500325" y="2676378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7"/>
          <p:cNvSpPr txBox="1"/>
          <p:nvPr>
            <p:ph idx="13" type="subTitle"/>
          </p:nvPr>
        </p:nvSpPr>
        <p:spPr>
          <a:xfrm>
            <a:off x="5061325" y="4318799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4" type="subTitle"/>
          </p:nvPr>
        </p:nvSpPr>
        <p:spPr>
          <a:xfrm>
            <a:off x="5061325" y="3900353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hasCustomPrompt="1" idx="15" type="title"/>
          </p:nvPr>
        </p:nvSpPr>
        <p:spPr>
          <a:xfrm>
            <a:off x="4500325" y="3900270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054850" y="3056150"/>
            <a:ext cx="5860500" cy="183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" type="subTitle"/>
          </p:nvPr>
        </p:nvSpPr>
        <p:spPr>
          <a:xfrm>
            <a:off x="4425843" y="228611"/>
            <a:ext cx="24909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/>
        </p:nvSpPr>
        <p:spPr>
          <a:xfrm>
            <a:off x="228600" y="2803984"/>
            <a:ext cx="2572200" cy="6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This presentation template was created by </a:t>
            </a:r>
            <a:r>
              <a:rPr b="1" lang="en" sz="1000" u="sng">
                <a:solidFill>
                  <a:schemeClr val="hlink"/>
                </a:solidFill>
                <a:latin typeface="Heebo"/>
                <a:ea typeface="Heebo"/>
                <a:cs typeface="Heebo"/>
                <a:sym typeface="Heebo"/>
                <a:hlinkClick r:id="rId2"/>
              </a:rPr>
              <a:t>Slidesgo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endParaRPr b="1" sz="1000" u="sng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Bricolage Grotesque"/>
              <a:buNone/>
              <a:defRPr b="1" sz="45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28600" y="936050"/>
            <a:ext cx="86868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gif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>
            <p:ph type="ctrTitle"/>
          </p:nvPr>
        </p:nvSpPr>
        <p:spPr>
          <a:xfrm>
            <a:off x="228600" y="2854200"/>
            <a:ext cx="72864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/>
              <a:t>OOP</a:t>
            </a:r>
            <a:r>
              <a:rPr lang="en" sz="3000"/>
              <a:t> 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100"/>
              <a:t>Final</a:t>
            </a:r>
            <a:r>
              <a:rPr lang="en" sz="9100"/>
              <a:t> Project</a:t>
            </a:r>
            <a:endParaRPr sz="9100"/>
          </a:p>
        </p:txBody>
      </p:sp>
      <p:sp>
        <p:nvSpPr>
          <p:cNvPr id="111" name="Google Shape;111;p22"/>
          <p:cNvSpPr txBox="1"/>
          <p:nvPr>
            <p:ph idx="1" type="subTitle"/>
          </p:nvPr>
        </p:nvSpPr>
        <p:spPr>
          <a:xfrm>
            <a:off x="6972900" y="228600"/>
            <a:ext cx="1942500" cy="11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鄭祐丞B123245001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簡才斌B123245003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陳展皝B123245006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12" name="Google Shape;112;p22"/>
          <p:cNvSpPr txBox="1"/>
          <p:nvPr/>
        </p:nvSpPr>
        <p:spPr>
          <a:xfrm>
            <a:off x="7689003" y="228600"/>
            <a:ext cx="1226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01</a:t>
            </a:r>
            <a:endParaRPr sz="10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1 &amp; 2</a:t>
            </a:r>
            <a:endParaRPr/>
          </a:p>
        </p:txBody>
      </p:sp>
      <p:sp>
        <p:nvSpPr>
          <p:cNvPr id="118" name="Google Shape;118;p23"/>
          <p:cNvSpPr txBox="1"/>
          <p:nvPr/>
        </p:nvSpPr>
        <p:spPr>
          <a:xfrm>
            <a:off x="185925" y="1017725"/>
            <a:ext cx="390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Heebo"/>
                <a:ea typeface="Heebo"/>
                <a:cs typeface="Heebo"/>
                <a:sym typeface="Heebo"/>
              </a:rPr>
              <a:t>Part 1: We successfully installed and ran</a:t>
            </a:r>
            <a:endParaRPr>
              <a:solidFill>
                <a:srgbClr val="000000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pic>
        <p:nvPicPr>
          <p:cNvPr id="119" name="Google Shape;119;p23" title="mountain_ca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925" y="2794175"/>
            <a:ext cx="2743904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/>
          <p:nvPr/>
        </p:nvSpPr>
        <p:spPr>
          <a:xfrm>
            <a:off x="1002113" y="4606163"/>
            <a:ext cx="1111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Mountain Car</a:t>
            </a:r>
            <a:endParaRPr sz="1000">
              <a:solidFill>
                <a:srgbClr val="000000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pic>
        <p:nvPicPr>
          <p:cNvPr id="121" name="Google Shape;121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17318" y="2794441"/>
            <a:ext cx="2450430" cy="182823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3"/>
          <p:cNvSpPr txBox="1"/>
          <p:nvPr/>
        </p:nvSpPr>
        <p:spPr>
          <a:xfrm>
            <a:off x="3656236" y="4615025"/>
            <a:ext cx="2172600" cy="3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525" lIns="82525" spcFirstLastPara="1" rIns="82525" wrap="square" tIns="825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2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Training Score per episode (pt.1)</a:t>
            </a:r>
            <a:endParaRPr sz="1002">
              <a:solidFill>
                <a:srgbClr val="000000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pic>
        <p:nvPicPr>
          <p:cNvPr id="123" name="Google Shape;123;p23"/>
          <p:cNvPicPr preferRelativeResize="0"/>
          <p:nvPr/>
        </p:nvPicPr>
        <p:blipFill rotWithShape="1">
          <a:blip r:embed="rId5">
            <a:alphaModFix/>
          </a:blip>
          <a:srcRect b="3793" l="5619" r="7521" t="8193"/>
          <a:stretch/>
        </p:blipFill>
        <p:spPr>
          <a:xfrm>
            <a:off x="6555251" y="2794446"/>
            <a:ext cx="2402819" cy="182823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3"/>
          <p:cNvSpPr txBox="1"/>
          <p:nvPr/>
        </p:nvSpPr>
        <p:spPr>
          <a:xfrm>
            <a:off x="6721967" y="4627477"/>
            <a:ext cx="2069400" cy="2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67500" lIns="67500" spcFirstLastPara="1" rIns="67500" wrap="square" tIns="675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2"/>
              <a:buFont typeface="Arial"/>
              <a:buNone/>
            </a:pPr>
            <a:r>
              <a:rPr lang="en" sz="1038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Training Score per episode (pt.2)</a:t>
            </a:r>
            <a:endParaRPr sz="1038">
              <a:solidFill>
                <a:srgbClr val="000000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grpSp>
        <p:nvGrpSpPr>
          <p:cNvPr id="125" name="Google Shape;125;p23"/>
          <p:cNvGrpSpPr/>
          <p:nvPr/>
        </p:nvGrpSpPr>
        <p:grpSpPr>
          <a:xfrm>
            <a:off x="5052598" y="1017736"/>
            <a:ext cx="3905474" cy="1776724"/>
            <a:chOff x="4478998" y="1130536"/>
            <a:chExt cx="3905474" cy="1776724"/>
          </a:xfrm>
        </p:grpSpPr>
        <p:pic>
          <p:nvPicPr>
            <p:cNvPr id="126" name="Google Shape;126;p2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479061" y="1500744"/>
              <a:ext cx="3905411" cy="140651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7" name="Google Shape;127;p23"/>
            <p:cNvSpPr txBox="1"/>
            <p:nvPr/>
          </p:nvSpPr>
          <p:spPr>
            <a:xfrm>
              <a:off x="4478998" y="1130536"/>
              <a:ext cx="3905400" cy="37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6550" lIns="76550" spcFirstLastPara="1" rIns="76550" wrap="square" tIns="76550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Heebo"/>
                  <a:ea typeface="Heebo"/>
                  <a:cs typeface="Heebo"/>
                  <a:sym typeface="Heebo"/>
                </a:rPr>
                <a:t>Part 2:We tuned the parameters to:</a:t>
              </a:r>
              <a:endParaRPr>
                <a:solidFill>
                  <a:srgbClr val="000000"/>
                </a:solidFill>
                <a:latin typeface="Heebo"/>
                <a:ea typeface="Heebo"/>
                <a:cs typeface="Heebo"/>
                <a:sym typeface="Heeb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subTitle"/>
          </p:nvPr>
        </p:nvSpPr>
        <p:spPr>
          <a:xfrm>
            <a:off x="228600" y="1157700"/>
            <a:ext cx="3594000" cy="74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Goal: Build an agent that runs 2048 by itself</a:t>
            </a:r>
            <a:endParaRPr sz="1700"/>
          </a:p>
        </p:txBody>
      </p:sp>
      <p:sp>
        <p:nvSpPr>
          <p:cNvPr id="133" name="Google Shape;133;p24"/>
          <p:cNvSpPr txBox="1"/>
          <p:nvPr>
            <p:ph type="title"/>
          </p:nvPr>
        </p:nvSpPr>
        <p:spPr>
          <a:xfrm>
            <a:off x="228600" y="228600"/>
            <a:ext cx="3594000" cy="9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3</a:t>
            </a:r>
            <a:endParaRPr/>
          </a:p>
        </p:txBody>
      </p:sp>
      <p:pic>
        <p:nvPicPr>
          <p:cNvPr id="134" name="Google Shape;13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8550" y="342525"/>
            <a:ext cx="4149324" cy="445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0936" y="1901952"/>
            <a:ext cx="2798063" cy="2935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5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3</a:t>
            </a:r>
            <a:endParaRPr/>
          </a:p>
        </p:txBody>
      </p:sp>
      <p:sp>
        <p:nvSpPr>
          <p:cNvPr id="141" name="Google Shape;141;p25"/>
          <p:cNvSpPr/>
          <p:nvPr/>
        </p:nvSpPr>
        <p:spPr>
          <a:xfrm>
            <a:off x="3103726" y="2434125"/>
            <a:ext cx="2224800" cy="310500"/>
          </a:xfrm>
          <a:prstGeom prst="flowChartAlternateProcess">
            <a:avLst/>
          </a:prstGeom>
          <a:solidFill>
            <a:srgbClr val="EA9999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Conv2d(64→128)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25"/>
          <p:cNvSpPr/>
          <p:nvPr/>
        </p:nvSpPr>
        <p:spPr>
          <a:xfrm>
            <a:off x="3103726" y="2936197"/>
            <a:ext cx="2224800" cy="310500"/>
          </a:xfrm>
          <a:prstGeom prst="flowChartAlternateProcess">
            <a:avLst/>
          </a:prstGeom>
          <a:solidFill>
            <a:srgbClr val="B6D7A8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ReLU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3" name="Google Shape;143;p25"/>
          <p:cNvSpPr/>
          <p:nvPr/>
        </p:nvSpPr>
        <p:spPr>
          <a:xfrm>
            <a:off x="6194676" y="880720"/>
            <a:ext cx="2224800" cy="310500"/>
          </a:xfrm>
          <a:prstGeom prst="flowChartAlternateProcess">
            <a:avLst/>
          </a:prstGeom>
          <a:solidFill>
            <a:srgbClr val="9FC5E8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Flatten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44" name="Google Shape;144;p25"/>
          <p:cNvCxnSpPr>
            <a:stCxn id="141" idx="2"/>
            <a:endCxn id="142" idx="0"/>
          </p:cNvCxnSpPr>
          <p:nvPr/>
        </p:nvCxnSpPr>
        <p:spPr>
          <a:xfrm>
            <a:off x="4216126" y="2744625"/>
            <a:ext cx="0" cy="191700"/>
          </a:xfrm>
          <a:prstGeom prst="straightConnector1">
            <a:avLst/>
          </a:prstGeom>
          <a:noFill/>
          <a:ln cap="flat" cmpd="sng" w="8500">
            <a:solidFill>
              <a:srgbClr val="21212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5" name="Google Shape;145;p25"/>
          <p:cNvSpPr/>
          <p:nvPr/>
        </p:nvSpPr>
        <p:spPr>
          <a:xfrm>
            <a:off x="3103726" y="1429975"/>
            <a:ext cx="2224800" cy="310500"/>
          </a:xfrm>
          <a:prstGeom prst="flowChartAlternateProcess">
            <a:avLst/>
          </a:prstGeom>
          <a:solidFill>
            <a:srgbClr val="EA9999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Conv2d (1→64)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6" name="Google Shape;146;p25"/>
          <p:cNvSpPr/>
          <p:nvPr/>
        </p:nvSpPr>
        <p:spPr>
          <a:xfrm>
            <a:off x="3103726" y="1932047"/>
            <a:ext cx="2224800" cy="310500"/>
          </a:xfrm>
          <a:prstGeom prst="flowChartAlternateProcess">
            <a:avLst/>
          </a:prstGeom>
          <a:solidFill>
            <a:srgbClr val="B6D7A8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ReLU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47" name="Google Shape;147;p25"/>
          <p:cNvCxnSpPr>
            <a:stCxn id="145" idx="2"/>
            <a:endCxn id="146" idx="0"/>
          </p:cNvCxnSpPr>
          <p:nvPr/>
        </p:nvCxnSpPr>
        <p:spPr>
          <a:xfrm>
            <a:off x="4216126" y="1740475"/>
            <a:ext cx="0" cy="191700"/>
          </a:xfrm>
          <a:prstGeom prst="straightConnector1">
            <a:avLst/>
          </a:prstGeom>
          <a:noFill/>
          <a:ln cap="flat" cmpd="sng" w="8500">
            <a:solidFill>
              <a:srgbClr val="21212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8" name="Google Shape;148;p25"/>
          <p:cNvCxnSpPr>
            <a:stCxn id="146" idx="2"/>
          </p:cNvCxnSpPr>
          <p:nvPr/>
        </p:nvCxnSpPr>
        <p:spPr>
          <a:xfrm>
            <a:off x="4216126" y="2242547"/>
            <a:ext cx="0" cy="191700"/>
          </a:xfrm>
          <a:prstGeom prst="straightConnector1">
            <a:avLst/>
          </a:prstGeom>
          <a:noFill/>
          <a:ln cap="flat" cmpd="sng" w="8500">
            <a:solidFill>
              <a:srgbClr val="212121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149" name="Google Shape;149;p25"/>
          <p:cNvGrpSpPr/>
          <p:nvPr/>
        </p:nvGrpSpPr>
        <p:grpSpPr>
          <a:xfrm>
            <a:off x="6194674" y="1191220"/>
            <a:ext cx="2224802" cy="2055469"/>
            <a:chOff x="4758724" y="1355970"/>
            <a:chExt cx="2224802" cy="2055469"/>
          </a:xfrm>
        </p:grpSpPr>
        <p:sp>
          <p:nvSpPr>
            <p:cNvPr id="150" name="Google Shape;150;p25"/>
            <p:cNvSpPr/>
            <p:nvPr/>
          </p:nvSpPr>
          <p:spPr>
            <a:xfrm>
              <a:off x="4758726" y="1594100"/>
              <a:ext cx="2224800" cy="310500"/>
            </a:xfrm>
            <a:prstGeom prst="flowChartAlternateProcess">
              <a:avLst/>
            </a:prstGeom>
            <a:solidFill>
              <a:srgbClr val="D5A6BD"/>
            </a:solidFill>
            <a:ln cap="flat" cmpd="sng" w="8500">
              <a:solidFill>
                <a:srgbClr val="212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1625" lIns="81625" spcFirstLastPara="1" rIns="81625" wrap="square" tIns="81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50">
                  <a:latin typeface="Open Sans"/>
                  <a:ea typeface="Open Sans"/>
                  <a:cs typeface="Open Sans"/>
                  <a:sym typeface="Open Sans"/>
                </a:rPr>
                <a:t>Linear Layer</a:t>
              </a:r>
              <a:endParaRPr sz="1250"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1" name="Google Shape;151;p25"/>
            <p:cNvSpPr/>
            <p:nvPr/>
          </p:nvSpPr>
          <p:spPr>
            <a:xfrm>
              <a:off x="4758726" y="2096297"/>
              <a:ext cx="2224800" cy="310500"/>
            </a:xfrm>
            <a:prstGeom prst="flowChartAlternateProcess">
              <a:avLst/>
            </a:prstGeom>
            <a:solidFill>
              <a:srgbClr val="B6D7A8"/>
            </a:solidFill>
            <a:ln cap="flat" cmpd="sng" w="8500">
              <a:solidFill>
                <a:srgbClr val="212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1625" lIns="81625" spcFirstLastPara="1" rIns="81625" wrap="square" tIns="81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50">
                  <a:latin typeface="Open Sans"/>
                  <a:ea typeface="Open Sans"/>
                  <a:cs typeface="Open Sans"/>
                  <a:sym typeface="Open Sans"/>
                </a:rPr>
                <a:t>ReLU</a:t>
              </a:r>
              <a:endParaRPr sz="1250"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cxnSp>
          <p:nvCxnSpPr>
            <p:cNvPr id="152" name="Google Shape;152;p25"/>
            <p:cNvCxnSpPr>
              <a:endCxn id="151" idx="0"/>
            </p:cNvCxnSpPr>
            <p:nvPr/>
          </p:nvCxnSpPr>
          <p:spPr>
            <a:xfrm>
              <a:off x="5871126" y="1904597"/>
              <a:ext cx="0" cy="191700"/>
            </a:xfrm>
            <a:prstGeom prst="straightConnector1">
              <a:avLst/>
            </a:prstGeom>
            <a:noFill/>
            <a:ln cap="flat" cmpd="sng" w="8500">
              <a:solidFill>
                <a:srgbClr val="212121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153" name="Google Shape;153;p25"/>
            <p:cNvCxnSpPr/>
            <p:nvPr/>
          </p:nvCxnSpPr>
          <p:spPr>
            <a:xfrm>
              <a:off x="5871126" y="2406672"/>
              <a:ext cx="0" cy="191700"/>
            </a:xfrm>
            <a:prstGeom prst="straightConnector1">
              <a:avLst/>
            </a:prstGeom>
            <a:noFill/>
            <a:ln cap="flat" cmpd="sng" w="8500">
              <a:solidFill>
                <a:srgbClr val="212121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154" name="Google Shape;154;p25"/>
            <p:cNvSpPr/>
            <p:nvPr/>
          </p:nvSpPr>
          <p:spPr>
            <a:xfrm>
              <a:off x="4758726" y="2598500"/>
              <a:ext cx="2224800" cy="310500"/>
            </a:xfrm>
            <a:prstGeom prst="flowChartAlternateProcess">
              <a:avLst/>
            </a:prstGeom>
            <a:solidFill>
              <a:srgbClr val="D5A6BD"/>
            </a:solidFill>
            <a:ln cap="flat" cmpd="sng" w="8500">
              <a:solidFill>
                <a:srgbClr val="212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1625" lIns="81625" spcFirstLastPara="1" rIns="81625" wrap="square" tIns="81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50">
                  <a:latin typeface="Open Sans"/>
                  <a:ea typeface="Open Sans"/>
                  <a:cs typeface="Open Sans"/>
                  <a:sym typeface="Open Sans"/>
                </a:rPr>
                <a:t>Linear Layer</a:t>
              </a:r>
              <a:endParaRPr sz="1250"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5" name="Google Shape;155;p25"/>
            <p:cNvSpPr/>
            <p:nvPr/>
          </p:nvSpPr>
          <p:spPr>
            <a:xfrm>
              <a:off x="4758724" y="3100939"/>
              <a:ext cx="2224800" cy="310500"/>
            </a:xfrm>
            <a:prstGeom prst="flowChartAlternateProcess">
              <a:avLst/>
            </a:prstGeom>
            <a:solidFill>
              <a:srgbClr val="A2C4C9"/>
            </a:solidFill>
            <a:ln cap="flat" cmpd="sng" w="8500">
              <a:solidFill>
                <a:srgbClr val="212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1625" lIns="81625" spcFirstLastPara="1" rIns="81625" wrap="square" tIns="81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50">
                  <a:latin typeface="Open Sans"/>
                  <a:ea typeface="Open Sans"/>
                  <a:cs typeface="Open Sans"/>
                  <a:sym typeface="Open Sans"/>
                </a:rPr>
                <a:t>Output Layer</a:t>
              </a:r>
              <a:endParaRPr sz="1250"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cxnSp>
          <p:nvCxnSpPr>
            <p:cNvPr id="156" name="Google Shape;156;p25"/>
            <p:cNvCxnSpPr/>
            <p:nvPr/>
          </p:nvCxnSpPr>
          <p:spPr>
            <a:xfrm>
              <a:off x="5871126" y="2909135"/>
              <a:ext cx="0" cy="191700"/>
            </a:xfrm>
            <a:prstGeom prst="straightConnector1">
              <a:avLst/>
            </a:prstGeom>
            <a:noFill/>
            <a:ln cap="flat" cmpd="sng" w="8500">
              <a:solidFill>
                <a:srgbClr val="212121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157" name="Google Shape;157;p25"/>
            <p:cNvCxnSpPr>
              <a:stCxn id="143" idx="2"/>
              <a:endCxn id="150" idx="0"/>
            </p:cNvCxnSpPr>
            <p:nvPr/>
          </p:nvCxnSpPr>
          <p:spPr>
            <a:xfrm flipH="1" rot="-5400000">
              <a:off x="5752326" y="1474770"/>
              <a:ext cx="238200" cy="600"/>
            </a:xfrm>
            <a:prstGeom prst="bentConnector3">
              <a:avLst>
                <a:gd fmla="val 49985" name="adj1"/>
              </a:avLst>
            </a:prstGeom>
            <a:noFill/>
            <a:ln cap="flat" cmpd="sng" w="9525">
              <a:solidFill>
                <a:srgbClr val="191919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</p:grpSp>
      <p:sp>
        <p:nvSpPr>
          <p:cNvPr id="158" name="Google Shape;158;p25"/>
          <p:cNvSpPr/>
          <p:nvPr/>
        </p:nvSpPr>
        <p:spPr>
          <a:xfrm>
            <a:off x="3103726" y="927900"/>
            <a:ext cx="2224800" cy="310500"/>
          </a:xfrm>
          <a:prstGeom prst="flowChartAlternateProcess">
            <a:avLst/>
          </a:prstGeom>
          <a:solidFill>
            <a:srgbClr val="F9CB9C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Input Layer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59" name="Google Shape;159;p25"/>
          <p:cNvCxnSpPr>
            <a:stCxn id="158" idx="2"/>
          </p:cNvCxnSpPr>
          <p:nvPr/>
        </p:nvCxnSpPr>
        <p:spPr>
          <a:xfrm>
            <a:off x="4216126" y="1238400"/>
            <a:ext cx="0" cy="191700"/>
          </a:xfrm>
          <a:prstGeom prst="straightConnector1">
            <a:avLst/>
          </a:prstGeom>
          <a:noFill/>
          <a:ln cap="flat" cmpd="sng" w="8500">
            <a:solidFill>
              <a:srgbClr val="21212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0" name="Google Shape;160;p25"/>
          <p:cNvCxnSpPr>
            <a:stCxn id="142" idx="2"/>
            <a:endCxn id="143" idx="0"/>
          </p:cNvCxnSpPr>
          <p:nvPr/>
        </p:nvCxnSpPr>
        <p:spPr>
          <a:xfrm rot="-5400000">
            <a:off x="4578526" y="518197"/>
            <a:ext cx="2366100" cy="3090900"/>
          </a:xfrm>
          <a:prstGeom prst="bentConnector5">
            <a:avLst>
              <a:gd fmla="val -10064" name="adj1"/>
              <a:gd fmla="val 50001" name="adj2"/>
              <a:gd fmla="val 110059" name="adj3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1" name="Google Shape;161;p25"/>
          <p:cNvSpPr txBox="1"/>
          <p:nvPr/>
        </p:nvSpPr>
        <p:spPr>
          <a:xfrm>
            <a:off x="3949575" y="4064150"/>
            <a:ext cx="3624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Heebo"/>
                <a:ea typeface="Heebo"/>
                <a:cs typeface="Heebo"/>
                <a:sym typeface="Heebo"/>
              </a:rPr>
              <a:t>Implementation: Deep Q-Network</a:t>
            </a:r>
            <a:endParaRPr sz="1500"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62" name="Google Shape;162;p25"/>
          <p:cNvSpPr/>
          <p:nvPr/>
        </p:nvSpPr>
        <p:spPr>
          <a:xfrm>
            <a:off x="1731797" y="1621725"/>
            <a:ext cx="957900" cy="1314600"/>
          </a:xfrm>
          <a:prstGeom prst="flowChartAlternateProcess">
            <a:avLst/>
          </a:prstGeom>
          <a:solidFill>
            <a:srgbClr val="F9CB9C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Target Network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3" name="Google Shape;163;p25"/>
          <p:cNvSpPr/>
          <p:nvPr/>
        </p:nvSpPr>
        <p:spPr>
          <a:xfrm>
            <a:off x="359875" y="1621725"/>
            <a:ext cx="957900" cy="1314600"/>
          </a:xfrm>
          <a:prstGeom prst="flowChartAlternateProcess">
            <a:avLst/>
          </a:prstGeom>
          <a:solidFill>
            <a:srgbClr val="EA9999"/>
          </a:solidFill>
          <a:ln cap="flat" cmpd="sng" w="8500">
            <a:solidFill>
              <a:srgbClr val="2121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625" lIns="81625" spcFirstLastPara="1" rIns="81625" wrap="square" tIns="81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latin typeface="Open Sans"/>
                <a:ea typeface="Open Sans"/>
                <a:cs typeface="Open Sans"/>
                <a:sym typeface="Open Sans"/>
              </a:rPr>
              <a:t>Q Network</a:t>
            </a:r>
            <a:endParaRPr sz="1250"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64" name="Google Shape;164;p25"/>
          <p:cNvCxnSpPr>
            <a:stCxn id="163" idx="0"/>
            <a:endCxn id="162" idx="0"/>
          </p:cNvCxnSpPr>
          <p:nvPr/>
        </p:nvCxnSpPr>
        <p:spPr>
          <a:xfrm flipH="1" rot="-5400000">
            <a:off x="1524475" y="936075"/>
            <a:ext cx="600" cy="1371900"/>
          </a:xfrm>
          <a:prstGeom prst="bentConnector3">
            <a:avLst>
              <a:gd fmla="val -396875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65" name="Google Shape;165;p25"/>
          <p:cNvCxnSpPr>
            <a:stCxn id="163" idx="2"/>
            <a:endCxn id="162" idx="2"/>
          </p:cNvCxnSpPr>
          <p:nvPr/>
        </p:nvCxnSpPr>
        <p:spPr>
          <a:xfrm flipH="1" rot="-5400000">
            <a:off x="1524475" y="2250675"/>
            <a:ext cx="600" cy="1371900"/>
          </a:xfrm>
          <a:prstGeom prst="bentConnector3">
            <a:avLst>
              <a:gd fmla="val 396875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stealth"/>
            <a:tailEnd len="med" w="med" type="none"/>
          </a:ln>
        </p:spPr>
      </p:cxnSp>
      <p:sp>
        <p:nvSpPr>
          <p:cNvPr id="166" name="Google Shape;166;p25"/>
          <p:cNvSpPr txBox="1"/>
          <p:nvPr/>
        </p:nvSpPr>
        <p:spPr>
          <a:xfrm>
            <a:off x="955675" y="829500"/>
            <a:ext cx="1138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Periodically Copy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955675" y="3174450"/>
            <a:ext cx="1138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Calculate Loss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3</a:t>
            </a:r>
            <a:endParaRPr/>
          </a:p>
        </p:txBody>
      </p:sp>
      <p:pic>
        <p:nvPicPr>
          <p:cNvPr id="173" name="Google Shape;173;p26"/>
          <p:cNvPicPr preferRelativeResize="0"/>
          <p:nvPr/>
        </p:nvPicPr>
        <p:blipFill rotWithShape="1">
          <a:blip r:embed="rId3">
            <a:alphaModFix/>
          </a:blip>
          <a:srcRect b="0" l="3719" r="7501" t="4516"/>
          <a:stretch/>
        </p:blipFill>
        <p:spPr>
          <a:xfrm>
            <a:off x="3096125" y="1023875"/>
            <a:ext cx="5756650" cy="309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225" y="1888625"/>
            <a:ext cx="2632199" cy="136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4038" y="803283"/>
            <a:ext cx="4955924" cy="350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ject roadmaps by Slidesgo">
  <a:themeElements>
    <a:clrScheme name="Simple Light">
      <a:dk1>
        <a:srgbClr val="161616"/>
      </a:dk1>
      <a:lt1>
        <a:srgbClr val="F0F0F0"/>
      </a:lt1>
      <a:dk2>
        <a:srgbClr val="161616"/>
      </a:dk2>
      <a:lt2>
        <a:srgbClr val="C2C2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6161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